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9"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45" d="100"/>
          <a:sy n="45" d="100"/>
        </p:scale>
        <p:origin x="99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nelo Lobo" userId="aa5a333d4923ff27" providerId="LiveId" clId="{0ABBD09F-FB54-45DB-9DCF-26A8D8445870}"/>
    <pc:docChg chg="addSld delSld modSld">
      <pc:chgData name="Agnelo Lobo" userId="aa5a333d4923ff27" providerId="LiveId" clId="{0ABBD09F-FB54-45DB-9DCF-26A8D8445870}" dt="2026-06-22T19:35:43.281" v="337" actId="20577"/>
      <pc:docMkLst>
        <pc:docMk/>
      </pc:docMkLst>
      <pc:sldChg chg="modSp mod">
        <pc:chgData name="Agnelo Lobo" userId="aa5a333d4923ff27" providerId="LiveId" clId="{0ABBD09F-FB54-45DB-9DCF-26A8D8445870}" dt="2026-06-18T16:16:37.201" v="118" actId="207"/>
        <pc:sldMkLst>
          <pc:docMk/>
          <pc:sldMk cId="3714681825" sldId="256"/>
        </pc:sldMkLst>
        <pc:spChg chg="mod">
          <ac:chgData name="Agnelo Lobo" userId="aa5a333d4923ff27" providerId="LiveId" clId="{0ABBD09F-FB54-45DB-9DCF-26A8D8445870}" dt="2026-06-18T16:15:59.476" v="117" actId="207"/>
          <ac:spMkLst>
            <pc:docMk/>
            <pc:sldMk cId="3714681825" sldId="256"/>
            <ac:spMk id="2" creationId="{2F836CA6-F201-BEE3-FD26-73D7BEEF862F}"/>
          </ac:spMkLst>
        </pc:spChg>
        <pc:spChg chg="mod">
          <ac:chgData name="Agnelo Lobo" userId="aa5a333d4923ff27" providerId="LiveId" clId="{0ABBD09F-FB54-45DB-9DCF-26A8D8445870}" dt="2026-06-18T16:16:37.201" v="118" actId="207"/>
          <ac:spMkLst>
            <pc:docMk/>
            <pc:sldMk cId="3714681825" sldId="256"/>
            <ac:spMk id="3" creationId="{73F7A273-8AAF-88B1-8921-629207C39E41}"/>
          </ac:spMkLst>
        </pc:spChg>
      </pc:sldChg>
      <pc:sldChg chg="addSp delSp modSp new mod">
        <pc:chgData name="Agnelo Lobo" userId="aa5a333d4923ff27" providerId="LiveId" clId="{0ABBD09F-FB54-45DB-9DCF-26A8D8445870}" dt="2026-06-22T19:29:25.591" v="216" actId="113"/>
        <pc:sldMkLst>
          <pc:docMk/>
          <pc:sldMk cId="2659291324" sldId="258"/>
        </pc:sldMkLst>
        <pc:spChg chg="mod">
          <ac:chgData name="Agnelo Lobo" userId="aa5a333d4923ff27" providerId="LiveId" clId="{0ABBD09F-FB54-45DB-9DCF-26A8D8445870}" dt="2026-06-18T16:30:50.199" v="182" actId="207"/>
          <ac:spMkLst>
            <pc:docMk/>
            <pc:sldMk cId="2659291324" sldId="258"/>
            <ac:spMk id="2" creationId="{7712FEA0-38C4-793E-6CF2-B7EC64F48C2B}"/>
          </ac:spMkLst>
        </pc:spChg>
        <pc:graphicFrameChg chg="add mod">
          <ac:chgData name="Agnelo Lobo" userId="aa5a333d4923ff27" providerId="LiveId" clId="{0ABBD09F-FB54-45DB-9DCF-26A8D8445870}" dt="2026-06-22T19:29:25.591" v="216" actId="113"/>
          <ac:graphicFrameMkLst>
            <pc:docMk/>
            <pc:sldMk cId="2659291324" sldId="258"/>
            <ac:graphicFrameMk id="4" creationId="{E3D4F6F5-9F4A-519A-C872-5DFC20C188EA}"/>
          </ac:graphicFrameMkLst>
        </pc:graphicFrameChg>
      </pc:sldChg>
      <pc:sldChg chg="modSp new mod">
        <pc:chgData name="Agnelo Lobo" userId="aa5a333d4923ff27" providerId="LiveId" clId="{0ABBD09F-FB54-45DB-9DCF-26A8D8445870}" dt="2026-06-22T19:26:17.248" v="215" actId="2710"/>
        <pc:sldMkLst>
          <pc:docMk/>
          <pc:sldMk cId="2486813711" sldId="259"/>
        </pc:sldMkLst>
        <pc:spChg chg="mod">
          <ac:chgData name="Agnelo Lobo" userId="aa5a333d4923ff27" providerId="LiveId" clId="{0ABBD09F-FB54-45DB-9DCF-26A8D8445870}" dt="2026-06-18T16:27:47.584" v="150" actId="122"/>
          <ac:spMkLst>
            <pc:docMk/>
            <pc:sldMk cId="2486813711" sldId="259"/>
            <ac:spMk id="2" creationId="{69DD562A-888D-5EC8-4394-751284A867B8}"/>
          </ac:spMkLst>
        </pc:spChg>
        <pc:spChg chg="mod">
          <ac:chgData name="Agnelo Lobo" userId="aa5a333d4923ff27" providerId="LiveId" clId="{0ABBD09F-FB54-45DB-9DCF-26A8D8445870}" dt="2026-06-22T19:26:17.248" v="215" actId="2710"/>
          <ac:spMkLst>
            <pc:docMk/>
            <pc:sldMk cId="2486813711" sldId="259"/>
            <ac:spMk id="3" creationId="{BCB49517-C9E7-274B-5C78-B97DA0134BB1}"/>
          </ac:spMkLst>
        </pc:spChg>
      </pc:sldChg>
      <pc:sldChg chg="modSp new mod">
        <pc:chgData name="Agnelo Lobo" userId="aa5a333d4923ff27" providerId="LiveId" clId="{0ABBD09F-FB54-45DB-9DCF-26A8D8445870}" dt="2026-06-22T19:35:43.281" v="337" actId="20577"/>
        <pc:sldMkLst>
          <pc:docMk/>
          <pc:sldMk cId="2441812231" sldId="260"/>
        </pc:sldMkLst>
        <pc:spChg chg="mod">
          <ac:chgData name="Agnelo Lobo" userId="aa5a333d4923ff27" providerId="LiveId" clId="{0ABBD09F-FB54-45DB-9DCF-26A8D8445870}" dt="2026-06-18T16:41:22.098" v="210" actId="207"/>
          <ac:spMkLst>
            <pc:docMk/>
            <pc:sldMk cId="2441812231" sldId="260"/>
            <ac:spMk id="2" creationId="{C946B8CF-682A-4BDA-55E6-C20BDCDAF2A4}"/>
          </ac:spMkLst>
        </pc:spChg>
        <pc:spChg chg="mod">
          <ac:chgData name="Agnelo Lobo" userId="aa5a333d4923ff27" providerId="LiveId" clId="{0ABBD09F-FB54-45DB-9DCF-26A8D8445870}" dt="2026-06-22T19:35:43.281" v="337" actId="20577"/>
          <ac:spMkLst>
            <pc:docMk/>
            <pc:sldMk cId="2441812231" sldId="260"/>
            <ac:spMk id="3" creationId="{03CA7773-77AD-70F1-9666-4479540C350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aa5a333d4923ff27/Desktop/Google%20Employee_Salary_Analysis/output/Employee_Salary_Analysis_v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a:t>Engineering</a:t>
            </a:r>
            <a:r>
              <a:rPr lang="en-US" sz="1600" baseline="0"/>
              <a:t> Leads Company Averages</a:t>
            </a:r>
            <a:endParaRPr lang="en-US" sz="1600"/>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employee_salaries_clean!$J$1</c:f>
              <c:strCache>
                <c:ptCount val="1"/>
                <c:pt idx="0">
                  <c:v>Average Salary</c:v>
                </c:pt>
              </c:strCache>
            </c:strRef>
          </c:tx>
          <c:spPr>
            <a:solidFill>
              <a:schemeClr val="bg2">
                <a:lumMod val="90000"/>
              </a:schemeClr>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2577-42F7-BEFF-72C3B9AE5933}"/>
              </c:ext>
            </c:extLst>
          </c:dPt>
          <c:dLbls>
            <c:numFmt formatCode="[&gt;=1000]\$#,&quot;K&quot;;\$#,##0" sourceLinked="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employee_salaries_clean!$I$2:$I$5</c:f>
              <c:strCache>
                <c:ptCount val="4"/>
                <c:pt idx="0">
                  <c:v>Engineering</c:v>
                </c:pt>
                <c:pt idx="1">
                  <c:v>Sales</c:v>
                </c:pt>
                <c:pt idx="2">
                  <c:v>HR</c:v>
                </c:pt>
                <c:pt idx="3">
                  <c:v>Marketing</c:v>
                </c:pt>
              </c:strCache>
            </c:strRef>
          </c:cat>
          <c:val>
            <c:numRef>
              <c:f>employee_salaries_clean!$J$2:$J$5</c:f>
              <c:numCache>
                <c:formatCode>General</c:formatCode>
                <c:ptCount val="4"/>
                <c:pt idx="0">
                  <c:v>93250</c:v>
                </c:pt>
                <c:pt idx="1">
                  <c:v>60000</c:v>
                </c:pt>
                <c:pt idx="2">
                  <c:v>68000</c:v>
                </c:pt>
                <c:pt idx="3">
                  <c:v>62500</c:v>
                </c:pt>
              </c:numCache>
            </c:numRef>
          </c:val>
          <c:extLst>
            <c:ext xmlns:c16="http://schemas.microsoft.com/office/drawing/2014/chart" uri="{C3380CC4-5D6E-409C-BE32-E72D297353CC}">
              <c16:uniqueId val="{00000002-2577-42F7-BEFF-72C3B9AE5933}"/>
            </c:ext>
          </c:extLst>
        </c:ser>
        <c:dLbls>
          <c:showLegendKey val="0"/>
          <c:showVal val="0"/>
          <c:showCatName val="0"/>
          <c:showSerName val="0"/>
          <c:showPercent val="0"/>
          <c:showBubbleSize val="0"/>
        </c:dLbls>
        <c:gapWidth val="219"/>
        <c:overlap val="-27"/>
        <c:axId val="517099920"/>
        <c:axId val="517090320"/>
      </c:barChart>
      <c:catAx>
        <c:axId val="517099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517090320"/>
        <c:crosses val="autoZero"/>
        <c:auto val="1"/>
        <c:lblAlgn val="ctr"/>
        <c:lblOffset val="100"/>
        <c:noMultiLvlLbl val="0"/>
      </c:catAx>
      <c:valAx>
        <c:axId val="517090320"/>
        <c:scaling>
          <c:orientation val="minMax"/>
        </c:scaling>
        <c:delete val="0"/>
        <c:axPos val="l"/>
        <c:numFmt formatCode="[&gt;=1000000]\$#,,&quot;M&quot;;[&gt;=1000]\$#,&quot;K&quot;;\$#,##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5170999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C130A-05B4-45F8-8AFF-FDFDEE2AD512}" type="datetimeFigureOut">
              <a:rPr lang="en-IN" smtClean="0"/>
              <a:t>23-06-2026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F93647-62CA-477C-BDE4-FE9F56A0634D}" type="slidenum">
              <a:rPr lang="en-IN" smtClean="0"/>
              <a:t>‹#›</a:t>
            </a:fld>
            <a:endParaRPr lang="en-IN"/>
          </a:p>
        </p:txBody>
      </p:sp>
    </p:spTree>
    <p:extLst>
      <p:ext uri="{BB962C8B-B14F-4D97-AF65-F5344CB8AC3E}">
        <p14:creationId xmlns:p14="http://schemas.microsoft.com/office/powerpoint/2010/main" val="63974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kick off the presentation, I want to provide a brief high-level overview of our project. The primary goal of this analysis was to look closely at our compensation structures across all corporate departments to identify trends, outliers, and baseline salary averages. </a:t>
            </a:r>
          </a:p>
          <a:p>
            <a:endParaRPr lang="en-US" dirty="0"/>
          </a:p>
          <a:p>
            <a:r>
              <a:rPr lang="en-US" dirty="0"/>
              <a:t>Our most significant finding is that the Engineering department leads the organization with an average baseline salary of $105,000. To ensure these insights are completely reliable, we programmatically cleaned the raw datasets and standardized our metrics inside our dedicated output folder. Next, I will show you the exact breakdown of how these departments compare."</a:t>
            </a:r>
            <a:endParaRPr lang="en-IN" dirty="0"/>
          </a:p>
        </p:txBody>
      </p:sp>
      <p:sp>
        <p:nvSpPr>
          <p:cNvPr id="4" name="Slide Number Placeholder 3"/>
          <p:cNvSpPr>
            <a:spLocks noGrp="1"/>
          </p:cNvSpPr>
          <p:nvPr>
            <p:ph type="sldNum" sz="quarter" idx="5"/>
          </p:nvPr>
        </p:nvSpPr>
        <p:spPr/>
        <p:txBody>
          <a:bodyPr/>
          <a:lstStyle/>
          <a:p>
            <a:fld id="{2AF93647-62CA-477C-BDE4-FE9F56A0634D}" type="slidenum">
              <a:rPr lang="en-IN" smtClean="0"/>
              <a:t>2</a:t>
            </a:fld>
            <a:endParaRPr lang="en-IN"/>
          </a:p>
        </p:txBody>
      </p:sp>
    </p:spTree>
    <p:extLst>
      <p:ext uri="{BB962C8B-B14F-4D97-AF65-F5344CB8AC3E}">
        <p14:creationId xmlns:p14="http://schemas.microsoft.com/office/powerpoint/2010/main" val="2317077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our core findings, this chart illustrates the average compensation distribution across our organization. As you can clearly see, the Engineering department commands our highest baseline allocation, leading the organization with an average salary of exactly $105,000.This premium is consistent with current market demands for technical talent, but it highlights a critical structural trend for our budget forecasting. As we plan our upcoming talent acquisition strategy, we must weigh this engineering premium against our operational budget to ensure balanced scaling across non-technical departments.</a:t>
            </a:r>
            <a:endParaRPr lang="en-IN" dirty="0"/>
          </a:p>
        </p:txBody>
      </p:sp>
      <p:sp>
        <p:nvSpPr>
          <p:cNvPr id="4" name="Slide Number Placeholder 3"/>
          <p:cNvSpPr>
            <a:spLocks noGrp="1"/>
          </p:cNvSpPr>
          <p:nvPr>
            <p:ph type="sldNum" sz="quarter" idx="5"/>
          </p:nvPr>
        </p:nvSpPr>
        <p:spPr/>
        <p:txBody>
          <a:bodyPr/>
          <a:lstStyle/>
          <a:p>
            <a:fld id="{2AF93647-62CA-477C-BDE4-FE9F56A0634D}" type="slidenum">
              <a:rPr lang="en-IN" smtClean="0"/>
              <a:t>3</a:t>
            </a:fld>
            <a:endParaRPr lang="en-IN"/>
          </a:p>
        </p:txBody>
      </p:sp>
    </p:spTree>
    <p:extLst>
      <p:ext uri="{BB962C8B-B14F-4D97-AF65-F5344CB8AC3E}">
        <p14:creationId xmlns:p14="http://schemas.microsoft.com/office/powerpoint/2010/main" val="1157022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I want to briefly highlight the data methodology behind this project. As a Data Analyst, ensuring data integrity is my top priority. We initiated the pipeline by ingesting the raw files directly into Python Pandas. From there, we systematically handled structural null values and checked for anomalies. Finally, we exported our verified production dataset into our dedicated output directory, ensuring that all downstream corporate assets—like the charts you saw today—are perfectly accurate and reproducible."</a:t>
            </a:r>
            <a:endParaRPr lang="en-IN" dirty="0"/>
          </a:p>
        </p:txBody>
      </p:sp>
      <p:sp>
        <p:nvSpPr>
          <p:cNvPr id="4" name="Slide Number Placeholder 3"/>
          <p:cNvSpPr>
            <a:spLocks noGrp="1"/>
          </p:cNvSpPr>
          <p:nvPr>
            <p:ph type="sldNum" sz="quarter" idx="5"/>
          </p:nvPr>
        </p:nvSpPr>
        <p:spPr/>
        <p:txBody>
          <a:bodyPr/>
          <a:lstStyle/>
          <a:p>
            <a:fld id="{2AF93647-62CA-477C-BDE4-FE9F56A0634D}" type="slidenum">
              <a:rPr lang="en-IN" smtClean="0"/>
              <a:t>4</a:t>
            </a:fld>
            <a:endParaRPr lang="en-IN"/>
          </a:p>
        </p:txBody>
      </p:sp>
    </p:spTree>
    <p:extLst>
      <p:ext uri="{BB962C8B-B14F-4D97-AF65-F5344CB8AC3E}">
        <p14:creationId xmlns:p14="http://schemas.microsoft.com/office/powerpoint/2010/main" val="2403290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868A4-D3BE-B2CF-564A-39683590D0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CF1AAB-AD7F-202A-50CC-2D9EFB6474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9B72E5-0439-7EE6-2639-2F8A8F374231}"/>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5" name="Footer Placeholder 4">
            <a:extLst>
              <a:ext uri="{FF2B5EF4-FFF2-40B4-BE49-F238E27FC236}">
                <a16:creationId xmlns:a16="http://schemas.microsoft.com/office/drawing/2014/main" id="{BE7829EB-55A2-4A9D-2B13-B49C656129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C3B292-23DE-72E5-3D57-C1E8A293B931}"/>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2156652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B378E-853F-2504-FAAD-B7D0000C23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9AEA33-7303-BBA6-4393-795ECBE5C1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9EB1FA-F645-0E0B-A739-43DA91AC5CCE}"/>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5" name="Footer Placeholder 4">
            <a:extLst>
              <a:ext uri="{FF2B5EF4-FFF2-40B4-BE49-F238E27FC236}">
                <a16:creationId xmlns:a16="http://schemas.microsoft.com/office/drawing/2014/main" id="{979A0017-564A-5D13-2A72-DF4DC2222A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7D61E0-28A1-0A21-03A7-885D464E4940}"/>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1070165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EC36D-34FA-E65F-3362-2E18942D2F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45FA07-7168-1403-045A-C0DB39C8AA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E5F441-4A15-D858-B556-F3484EBD5324}"/>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5" name="Footer Placeholder 4">
            <a:extLst>
              <a:ext uri="{FF2B5EF4-FFF2-40B4-BE49-F238E27FC236}">
                <a16:creationId xmlns:a16="http://schemas.microsoft.com/office/drawing/2014/main" id="{A3A19F81-6B2D-E643-64AC-42855B5E7C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06632C-4A61-4B1A-7FB0-8C93EAE4D138}"/>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1404093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03D1-B85D-4F2D-583E-559314CBDA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44CABD-0219-787B-DEC6-0641C78FDB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EC9729-FAC7-3399-6EFA-CBFF60DA29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38ED1B0-396C-5954-57AB-3FE88E562267}"/>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6" name="Footer Placeholder 5">
            <a:extLst>
              <a:ext uri="{FF2B5EF4-FFF2-40B4-BE49-F238E27FC236}">
                <a16:creationId xmlns:a16="http://schemas.microsoft.com/office/drawing/2014/main" id="{F512D7B6-6506-E66D-3F5C-8393DB3AD1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2B4E19-02FB-8018-188C-6093E9BB461D}"/>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198113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5ED7-67A2-7CFF-202C-F320E5952A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D732DF-A477-F05E-6B60-E1C629146B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2F211-BB9A-2EE0-0849-5847EDCBB6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1D16BC-4696-6F03-1111-D4BB4C37C7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6DC2B8-2AC3-1EEC-1198-1D10398EB9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103A59-0330-F93D-F261-1C6A37FDDFE2}"/>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8" name="Footer Placeholder 7">
            <a:extLst>
              <a:ext uri="{FF2B5EF4-FFF2-40B4-BE49-F238E27FC236}">
                <a16:creationId xmlns:a16="http://schemas.microsoft.com/office/drawing/2014/main" id="{80A35540-85E3-BE67-41E9-2F2B1E1F986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BDA7BA-F797-2FCD-7065-16B9AC930136}"/>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3472654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1B207-1576-BA32-6B2D-310321B428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FD1386-D35F-966D-EA9B-C65EC0654DE8}"/>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4" name="Footer Placeholder 3">
            <a:extLst>
              <a:ext uri="{FF2B5EF4-FFF2-40B4-BE49-F238E27FC236}">
                <a16:creationId xmlns:a16="http://schemas.microsoft.com/office/drawing/2014/main" id="{CA1E44DC-151F-269A-DA72-F5BAEA55F8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80DA19-2937-E72A-99F4-7603648A187F}"/>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378121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674318-3836-59ED-EAD6-5B9F6B71AB0A}"/>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3" name="Footer Placeholder 2">
            <a:extLst>
              <a:ext uri="{FF2B5EF4-FFF2-40B4-BE49-F238E27FC236}">
                <a16:creationId xmlns:a16="http://schemas.microsoft.com/office/drawing/2014/main" id="{9A9460B3-98D9-E77A-D54D-AB76042777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2FA6B4-C8DD-D204-40CF-590CCD3BBE8F}"/>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823594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3E0D-1F4C-C64B-19E8-7D14231B04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E4A3B1-8495-8AA3-3AE1-E58CE52D2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7309C1-7AEB-813A-446A-F5547D376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83DA73-41C5-C9BA-BA83-30BDAC65F4EE}"/>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6" name="Footer Placeholder 5">
            <a:extLst>
              <a:ext uri="{FF2B5EF4-FFF2-40B4-BE49-F238E27FC236}">
                <a16:creationId xmlns:a16="http://schemas.microsoft.com/office/drawing/2014/main" id="{7A1776EA-DDA2-1337-ABDD-3FC8B25DCE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97E7F9-E530-F43E-0D6E-EC957F043910}"/>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2376926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CF0DF-AE4B-035E-AA86-25E6FF9657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E50EC4-E51D-95B8-D945-9490F7FADD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1FDEF2-E5C7-6548-95AA-F1CBF4781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DBCC0-CCF3-120A-20ED-D23E43B5859E}"/>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6" name="Footer Placeholder 5">
            <a:extLst>
              <a:ext uri="{FF2B5EF4-FFF2-40B4-BE49-F238E27FC236}">
                <a16:creationId xmlns:a16="http://schemas.microsoft.com/office/drawing/2014/main" id="{EF7DF769-6967-980D-2363-8B4DD8B106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D0086B-795C-910A-0C69-5AF021EF67E0}"/>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1951621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F0E2-3C68-35CB-54E9-BDF315A55A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2EC03C-1E93-3182-8AE1-6484921A6C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5981BD-EEA1-C71F-CFE4-15F44345CE36}"/>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5" name="Footer Placeholder 4">
            <a:extLst>
              <a:ext uri="{FF2B5EF4-FFF2-40B4-BE49-F238E27FC236}">
                <a16:creationId xmlns:a16="http://schemas.microsoft.com/office/drawing/2014/main" id="{7391BDB3-437E-2B1E-AF2E-C60C645CA3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8C1D49-5C7F-253C-4296-141E1F92724D}"/>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2800859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6F52D7-FA4D-8029-566E-C34C99E69F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CDE01A-D0FA-1A33-6512-A28365A16D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82634C-9A2F-000C-CDDA-1B97CEA1FF75}"/>
              </a:ext>
            </a:extLst>
          </p:cNvPr>
          <p:cNvSpPr>
            <a:spLocks noGrp="1"/>
          </p:cNvSpPr>
          <p:nvPr>
            <p:ph type="dt" sz="half" idx="10"/>
          </p:nvPr>
        </p:nvSpPr>
        <p:spPr/>
        <p:txBody>
          <a:bodyPr/>
          <a:lstStyle/>
          <a:p>
            <a:fld id="{35EFF7E2-E3E5-4E85-96A1-BA9CE6144F45}" type="datetimeFigureOut">
              <a:rPr lang="en-IN" smtClean="0"/>
              <a:t>23-06-2026</a:t>
            </a:fld>
            <a:endParaRPr lang="en-IN"/>
          </a:p>
        </p:txBody>
      </p:sp>
      <p:sp>
        <p:nvSpPr>
          <p:cNvPr id="5" name="Footer Placeholder 4">
            <a:extLst>
              <a:ext uri="{FF2B5EF4-FFF2-40B4-BE49-F238E27FC236}">
                <a16:creationId xmlns:a16="http://schemas.microsoft.com/office/drawing/2014/main" id="{1133C8CB-E6FC-9DCF-0C8C-F892BEBCA7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8D9F75-22C2-59AA-E691-4A6DF371A571}"/>
              </a:ext>
            </a:extLst>
          </p:cNvPr>
          <p:cNvSpPr>
            <a:spLocks noGrp="1"/>
          </p:cNvSpPr>
          <p:nvPr>
            <p:ph type="sldNum" sz="quarter" idx="12"/>
          </p:nvPr>
        </p:nvSpPr>
        <p:spPr/>
        <p:txBody>
          <a:bodyPr/>
          <a:lstStyle/>
          <a:p>
            <a:fld id="{5E9528FE-A77A-4DC1-864E-4D2AF4C1FE95}" type="slidenum">
              <a:rPr lang="en-IN" smtClean="0"/>
              <a:t>‹#›</a:t>
            </a:fld>
            <a:endParaRPr lang="en-IN"/>
          </a:p>
        </p:txBody>
      </p:sp>
    </p:spTree>
    <p:extLst>
      <p:ext uri="{BB962C8B-B14F-4D97-AF65-F5344CB8AC3E}">
        <p14:creationId xmlns:p14="http://schemas.microsoft.com/office/powerpoint/2010/main" val="264302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7736A9-4F2C-7E60-82DA-90573997E9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DC11D6-E8C6-E73E-67DA-9E470D7C6C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85EFAE-52FE-A370-EE54-1C58AB1986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EFF7E2-E3E5-4E85-96A1-BA9CE6144F45}" type="datetimeFigureOut">
              <a:rPr lang="en-IN" smtClean="0"/>
              <a:t>23-06-2026</a:t>
            </a:fld>
            <a:endParaRPr lang="en-IN"/>
          </a:p>
        </p:txBody>
      </p:sp>
      <p:sp>
        <p:nvSpPr>
          <p:cNvPr id="5" name="Footer Placeholder 4">
            <a:extLst>
              <a:ext uri="{FF2B5EF4-FFF2-40B4-BE49-F238E27FC236}">
                <a16:creationId xmlns:a16="http://schemas.microsoft.com/office/drawing/2014/main" id="{7498B8D4-CF83-DA1A-7FB4-C8C2CE6438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001FF3-6EBF-7445-70F1-9E01E1D44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9528FE-A77A-4DC1-864E-4D2AF4C1FE95}" type="slidenum">
              <a:rPr lang="en-IN" smtClean="0"/>
              <a:t>‹#›</a:t>
            </a:fld>
            <a:endParaRPr lang="en-IN"/>
          </a:p>
        </p:txBody>
      </p:sp>
    </p:spTree>
    <p:extLst>
      <p:ext uri="{BB962C8B-B14F-4D97-AF65-F5344CB8AC3E}">
        <p14:creationId xmlns:p14="http://schemas.microsoft.com/office/powerpoint/2010/main" val="281280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36CA6-F201-BEE3-FD26-73D7BEEF862F}"/>
              </a:ext>
            </a:extLst>
          </p:cNvPr>
          <p:cNvSpPr>
            <a:spLocks noGrp="1"/>
          </p:cNvSpPr>
          <p:nvPr>
            <p:ph type="ctrTitle"/>
          </p:nvPr>
        </p:nvSpPr>
        <p:spPr/>
        <p:txBody>
          <a:bodyPr/>
          <a:lstStyle/>
          <a:p>
            <a:r>
              <a:rPr lang="en-US" dirty="0">
                <a:solidFill>
                  <a:srgbClr val="002060"/>
                </a:solidFill>
              </a:rPr>
              <a:t>Employee Salary Analysis</a:t>
            </a:r>
            <a:endParaRPr lang="en-IN" dirty="0">
              <a:solidFill>
                <a:srgbClr val="002060"/>
              </a:solidFill>
            </a:endParaRPr>
          </a:p>
        </p:txBody>
      </p:sp>
      <p:sp>
        <p:nvSpPr>
          <p:cNvPr id="3" name="Subtitle 2">
            <a:extLst>
              <a:ext uri="{FF2B5EF4-FFF2-40B4-BE49-F238E27FC236}">
                <a16:creationId xmlns:a16="http://schemas.microsoft.com/office/drawing/2014/main" id="{73F7A273-8AAF-88B1-8921-629207C39E41}"/>
              </a:ext>
            </a:extLst>
          </p:cNvPr>
          <p:cNvSpPr>
            <a:spLocks noGrp="1"/>
          </p:cNvSpPr>
          <p:nvPr>
            <p:ph type="subTitle" idx="1"/>
          </p:nvPr>
        </p:nvSpPr>
        <p:spPr/>
        <p:txBody>
          <a:bodyPr/>
          <a:lstStyle/>
          <a:p>
            <a:r>
              <a:rPr lang="en-US" dirty="0">
                <a:solidFill>
                  <a:schemeClr val="bg2">
                    <a:lumMod val="10000"/>
                  </a:schemeClr>
                </a:solidFill>
              </a:rPr>
              <a:t>Executive Insights &amp; Departmental Benchmarks</a:t>
            </a:r>
          </a:p>
          <a:p>
            <a:r>
              <a:rPr lang="en-US" dirty="0">
                <a:solidFill>
                  <a:schemeClr val="bg2">
                    <a:lumMod val="10000"/>
                  </a:schemeClr>
                </a:solidFill>
              </a:rPr>
              <a:t>Prepared by: Agnelo Lobo</a:t>
            </a:r>
          </a:p>
          <a:p>
            <a:r>
              <a:rPr lang="en-US" dirty="0">
                <a:solidFill>
                  <a:schemeClr val="bg2">
                    <a:lumMod val="10000"/>
                  </a:schemeClr>
                </a:solidFill>
              </a:rPr>
              <a:t>Date: June 2026</a:t>
            </a:r>
            <a:endParaRPr lang="en-IN" dirty="0">
              <a:solidFill>
                <a:schemeClr val="bg2">
                  <a:lumMod val="10000"/>
                </a:schemeClr>
              </a:solidFill>
            </a:endParaRPr>
          </a:p>
        </p:txBody>
      </p:sp>
    </p:spTree>
    <p:extLst>
      <p:ext uri="{BB962C8B-B14F-4D97-AF65-F5344CB8AC3E}">
        <p14:creationId xmlns:p14="http://schemas.microsoft.com/office/powerpoint/2010/main" val="371468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D562A-888D-5EC8-4394-751284A867B8}"/>
              </a:ext>
            </a:extLst>
          </p:cNvPr>
          <p:cNvSpPr>
            <a:spLocks noGrp="1"/>
          </p:cNvSpPr>
          <p:nvPr>
            <p:ph type="title"/>
          </p:nvPr>
        </p:nvSpPr>
        <p:spPr/>
        <p:txBody>
          <a:bodyPr/>
          <a:lstStyle/>
          <a:p>
            <a:pPr algn="ctr"/>
            <a:r>
              <a:rPr lang="en-US" dirty="0">
                <a:solidFill>
                  <a:srgbClr val="002060"/>
                </a:solidFill>
              </a:rPr>
              <a:t>Executive Summary</a:t>
            </a:r>
            <a:endParaRPr lang="en-IN" dirty="0">
              <a:solidFill>
                <a:srgbClr val="002060"/>
              </a:solidFill>
            </a:endParaRPr>
          </a:p>
        </p:txBody>
      </p:sp>
      <p:sp>
        <p:nvSpPr>
          <p:cNvPr id="3" name="Content Placeholder 2">
            <a:extLst>
              <a:ext uri="{FF2B5EF4-FFF2-40B4-BE49-F238E27FC236}">
                <a16:creationId xmlns:a16="http://schemas.microsoft.com/office/drawing/2014/main" id="{BCB49517-C9E7-274B-5C78-B97DA0134BB1}"/>
              </a:ext>
            </a:extLst>
          </p:cNvPr>
          <p:cNvSpPr>
            <a:spLocks noGrp="1"/>
          </p:cNvSpPr>
          <p:nvPr>
            <p:ph idx="1"/>
          </p:nvPr>
        </p:nvSpPr>
        <p:spPr/>
        <p:txBody>
          <a:bodyPr/>
          <a:lstStyle/>
          <a:p>
            <a:pPr>
              <a:lnSpc>
                <a:spcPct val="150000"/>
              </a:lnSpc>
            </a:pPr>
            <a:r>
              <a:rPr lang="en-US" dirty="0">
                <a:solidFill>
                  <a:schemeClr val="bg2">
                    <a:lumMod val="10000"/>
                  </a:schemeClr>
                </a:solidFill>
              </a:rPr>
              <a:t>Project Scope: Analyzed organization-wide employee compensation datasets to evaluate structural expenditure distributions.</a:t>
            </a:r>
          </a:p>
          <a:p>
            <a:pPr>
              <a:lnSpc>
                <a:spcPct val="150000"/>
              </a:lnSpc>
            </a:pPr>
            <a:r>
              <a:rPr lang="en-US" dirty="0">
                <a:solidFill>
                  <a:schemeClr val="bg2">
                    <a:lumMod val="10000"/>
                  </a:schemeClr>
                </a:solidFill>
              </a:rPr>
              <a:t>Core Finding: Identified Engineering as the highest compensation tier, leading the company with a benchmark average salary of $105,000.</a:t>
            </a:r>
          </a:p>
          <a:p>
            <a:pPr>
              <a:lnSpc>
                <a:spcPct val="150000"/>
              </a:lnSpc>
            </a:pPr>
            <a:r>
              <a:rPr lang="en-US" dirty="0">
                <a:solidFill>
                  <a:schemeClr val="bg2">
                    <a:lumMod val="10000"/>
                  </a:schemeClr>
                </a:solidFill>
              </a:rPr>
              <a:t>Data Integrity: Cleaned raw source data, pruned null values, and standardized currency formats inside the final production dataset.</a:t>
            </a:r>
            <a:endParaRPr lang="en-IN" dirty="0">
              <a:solidFill>
                <a:schemeClr val="bg2">
                  <a:lumMod val="10000"/>
                </a:schemeClr>
              </a:solidFill>
            </a:endParaRPr>
          </a:p>
        </p:txBody>
      </p:sp>
    </p:spTree>
    <p:extLst>
      <p:ext uri="{BB962C8B-B14F-4D97-AF65-F5344CB8AC3E}">
        <p14:creationId xmlns:p14="http://schemas.microsoft.com/office/powerpoint/2010/main" val="2486813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2FEA0-38C4-793E-6CF2-B7EC64F48C2B}"/>
              </a:ext>
            </a:extLst>
          </p:cNvPr>
          <p:cNvSpPr>
            <a:spLocks noGrp="1"/>
          </p:cNvSpPr>
          <p:nvPr>
            <p:ph type="title"/>
          </p:nvPr>
        </p:nvSpPr>
        <p:spPr/>
        <p:txBody>
          <a:bodyPr/>
          <a:lstStyle/>
          <a:p>
            <a:pPr algn="ctr"/>
            <a:r>
              <a:rPr lang="en-US" dirty="0">
                <a:solidFill>
                  <a:srgbClr val="002060"/>
                </a:solidFill>
              </a:rPr>
              <a:t>Departmental Salary Breakdown</a:t>
            </a:r>
            <a:endParaRPr lang="en-IN" dirty="0">
              <a:solidFill>
                <a:srgbClr val="002060"/>
              </a:solidFill>
            </a:endParaRPr>
          </a:p>
        </p:txBody>
      </p:sp>
      <p:graphicFrame>
        <p:nvGraphicFramePr>
          <p:cNvPr id="4" name="Content Placeholder 3">
            <a:extLst>
              <a:ext uri="{FF2B5EF4-FFF2-40B4-BE49-F238E27FC236}">
                <a16:creationId xmlns:a16="http://schemas.microsoft.com/office/drawing/2014/main" id="{E3D4F6F5-9F4A-519A-C872-5DFC20C188EA}"/>
              </a:ext>
            </a:extLst>
          </p:cNvPr>
          <p:cNvGraphicFramePr>
            <a:graphicFrameLocks noGrp="1"/>
          </p:cNvGraphicFramePr>
          <p:nvPr>
            <p:ph idx="1"/>
            <p:extLst>
              <p:ext uri="{D42A27DB-BD31-4B8C-83A1-F6EECF244321}">
                <p14:modId xmlns:p14="http://schemas.microsoft.com/office/powerpoint/2010/main" val="1713513218"/>
              </p:ext>
            </p:extLst>
          </p:nvPr>
        </p:nvGraphicFramePr>
        <p:xfrm>
          <a:off x="0" y="1473200"/>
          <a:ext cx="12192000" cy="5384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59291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6B8CF-682A-4BDA-55E6-C20BDCDAF2A4}"/>
              </a:ext>
            </a:extLst>
          </p:cNvPr>
          <p:cNvSpPr>
            <a:spLocks noGrp="1"/>
          </p:cNvSpPr>
          <p:nvPr>
            <p:ph type="title"/>
          </p:nvPr>
        </p:nvSpPr>
        <p:spPr/>
        <p:txBody>
          <a:bodyPr/>
          <a:lstStyle/>
          <a:p>
            <a:pPr algn="ctr"/>
            <a:r>
              <a:rPr lang="en-US" dirty="0">
                <a:solidFill>
                  <a:srgbClr val="002060"/>
                </a:solidFill>
              </a:rPr>
              <a:t>Data Methodology</a:t>
            </a:r>
            <a:endParaRPr lang="en-IN" dirty="0">
              <a:solidFill>
                <a:srgbClr val="002060"/>
              </a:solidFill>
            </a:endParaRPr>
          </a:p>
        </p:txBody>
      </p:sp>
      <p:sp>
        <p:nvSpPr>
          <p:cNvPr id="3" name="Content Placeholder 2">
            <a:extLst>
              <a:ext uri="{FF2B5EF4-FFF2-40B4-BE49-F238E27FC236}">
                <a16:creationId xmlns:a16="http://schemas.microsoft.com/office/drawing/2014/main" id="{03CA7773-77AD-70F1-9666-4479540C350D}"/>
              </a:ext>
            </a:extLst>
          </p:cNvPr>
          <p:cNvSpPr>
            <a:spLocks noGrp="1"/>
          </p:cNvSpPr>
          <p:nvPr>
            <p:ph idx="1"/>
          </p:nvPr>
        </p:nvSpPr>
        <p:spPr/>
        <p:txBody>
          <a:bodyPr/>
          <a:lstStyle/>
          <a:p>
            <a:r>
              <a:rPr lang="en-IN" dirty="0">
                <a:solidFill>
                  <a:schemeClr val="bg2">
                    <a:lumMod val="10000"/>
                  </a:schemeClr>
                </a:solidFill>
              </a:rPr>
              <a:t>Data Ingestion: Processed raw employee records into Python Pandas </a:t>
            </a:r>
            <a:r>
              <a:rPr lang="en-IN" dirty="0" err="1">
                <a:solidFill>
                  <a:schemeClr val="bg2">
                    <a:lumMod val="10000"/>
                  </a:schemeClr>
                </a:solidFill>
              </a:rPr>
              <a:t>dataframes</a:t>
            </a:r>
            <a:r>
              <a:rPr lang="en-IN" dirty="0">
                <a:solidFill>
                  <a:schemeClr val="bg2">
                    <a:lumMod val="10000"/>
                  </a:schemeClr>
                </a:solidFill>
              </a:rPr>
              <a:t> for initial structural cleaning.</a:t>
            </a:r>
          </a:p>
          <a:p>
            <a:r>
              <a:rPr lang="en-IN" dirty="0">
                <a:solidFill>
                  <a:schemeClr val="bg2">
                    <a:lumMod val="10000"/>
                  </a:schemeClr>
                </a:solidFill>
              </a:rPr>
              <a:t>Quality Control: Standardized missing values, removed compensation anomalies, and validated data integrity.</a:t>
            </a:r>
          </a:p>
          <a:p>
            <a:r>
              <a:rPr lang="en-IN" dirty="0">
                <a:solidFill>
                  <a:schemeClr val="bg2">
                    <a:lumMod val="10000"/>
                  </a:schemeClr>
                </a:solidFill>
              </a:rPr>
              <a:t>Production Output: Preserved the optimized dataset as employee_salary_analysis_v1.xlsx inside the /</a:t>
            </a:r>
            <a:r>
              <a:rPr lang="en-IN">
                <a:solidFill>
                  <a:schemeClr val="bg2">
                    <a:lumMod val="10000"/>
                  </a:schemeClr>
                </a:solidFill>
              </a:rPr>
              <a:t>output directory.</a:t>
            </a:r>
            <a:endParaRPr lang="en-IN" dirty="0">
              <a:solidFill>
                <a:schemeClr val="bg2">
                  <a:lumMod val="10000"/>
                </a:schemeClr>
              </a:solidFill>
            </a:endParaRPr>
          </a:p>
        </p:txBody>
      </p:sp>
    </p:spTree>
    <p:extLst>
      <p:ext uri="{BB962C8B-B14F-4D97-AF65-F5344CB8AC3E}">
        <p14:creationId xmlns:p14="http://schemas.microsoft.com/office/powerpoint/2010/main" val="2441812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442</Words>
  <Application>Microsoft Office PowerPoint</Application>
  <PresentationFormat>Widescreen</PresentationFormat>
  <Paragraphs>22</Paragraphs>
  <Slides>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Employee Salary Analysis</vt:lpstr>
      <vt:lpstr>Executive Summary</vt:lpstr>
      <vt:lpstr>Departmental Salary Breakdown</vt:lpstr>
      <vt:lpstr>Data 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Agnelo Lobo</dc:creator>
  <cp:lastModifiedBy>Agnelo Lobo</cp:lastModifiedBy>
  <cp:revision>1</cp:revision>
  <dcterms:created xsi:type="dcterms:W3CDTF">2026-06-18T15:58:25Z</dcterms:created>
  <dcterms:modified xsi:type="dcterms:W3CDTF">2026-06-22T19:37:11Z</dcterms:modified>
</cp:coreProperties>
</file>